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3" r:id="rId9"/>
    <p:sldId id="266" r:id="rId10"/>
    <p:sldId id="264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2363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>
            <a:off x="5943600" y="27432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6446520" y="27432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6949440" y="27432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7452360" y="27432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Shape 5"/>
          <p:cNvSpPr/>
          <p:nvPr/>
        </p:nvSpPr>
        <p:spPr>
          <a:xfrm>
            <a:off x="7955280" y="27432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Shape 6"/>
          <p:cNvSpPr/>
          <p:nvPr/>
        </p:nvSpPr>
        <p:spPr>
          <a:xfrm>
            <a:off x="8458200" y="27432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Shape 7"/>
          <p:cNvSpPr/>
          <p:nvPr/>
        </p:nvSpPr>
        <p:spPr>
          <a:xfrm>
            <a:off x="5943600" y="77724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Shape 8"/>
          <p:cNvSpPr/>
          <p:nvPr/>
        </p:nvSpPr>
        <p:spPr>
          <a:xfrm>
            <a:off x="6446520" y="77724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Shape 9"/>
          <p:cNvSpPr/>
          <p:nvPr/>
        </p:nvSpPr>
        <p:spPr>
          <a:xfrm>
            <a:off x="6949440" y="77724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Shape 10"/>
          <p:cNvSpPr/>
          <p:nvPr/>
        </p:nvSpPr>
        <p:spPr>
          <a:xfrm>
            <a:off x="7452360" y="77724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Shape 11"/>
          <p:cNvSpPr/>
          <p:nvPr/>
        </p:nvSpPr>
        <p:spPr>
          <a:xfrm>
            <a:off x="7955280" y="77724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Shape 12"/>
          <p:cNvSpPr/>
          <p:nvPr/>
        </p:nvSpPr>
        <p:spPr>
          <a:xfrm>
            <a:off x="8458200" y="77724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Shape 13"/>
          <p:cNvSpPr/>
          <p:nvPr/>
        </p:nvSpPr>
        <p:spPr>
          <a:xfrm>
            <a:off x="5943600" y="128016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Shape 14"/>
          <p:cNvSpPr/>
          <p:nvPr/>
        </p:nvSpPr>
        <p:spPr>
          <a:xfrm>
            <a:off x="6446520" y="128016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Shape 15"/>
          <p:cNvSpPr/>
          <p:nvPr/>
        </p:nvSpPr>
        <p:spPr>
          <a:xfrm>
            <a:off x="6949440" y="128016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Shape 16"/>
          <p:cNvSpPr/>
          <p:nvPr/>
        </p:nvSpPr>
        <p:spPr>
          <a:xfrm>
            <a:off x="7452360" y="128016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Shape 17"/>
          <p:cNvSpPr/>
          <p:nvPr/>
        </p:nvSpPr>
        <p:spPr>
          <a:xfrm>
            <a:off x="7955280" y="128016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Shape 18"/>
          <p:cNvSpPr/>
          <p:nvPr/>
        </p:nvSpPr>
        <p:spPr>
          <a:xfrm>
            <a:off x="8458200" y="128016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Shape 19"/>
          <p:cNvSpPr/>
          <p:nvPr/>
        </p:nvSpPr>
        <p:spPr>
          <a:xfrm>
            <a:off x="5943600" y="178308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Shape 20"/>
          <p:cNvSpPr/>
          <p:nvPr/>
        </p:nvSpPr>
        <p:spPr>
          <a:xfrm>
            <a:off x="6446520" y="178308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Shape 21"/>
          <p:cNvSpPr/>
          <p:nvPr/>
        </p:nvSpPr>
        <p:spPr>
          <a:xfrm>
            <a:off x="6949440" y="178308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Shape 22"/>
          <p:cNvSpPr/>
          <p:nvPr/>
        </p:nvSpPr>
        <p:spPr>
          <a:xfrm>
            <a:off x="7452360" y="178308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Shape 23"/>
          <p:cNvSpPr/>
          <p:nvPr/>
        </p:nvSpPr>
        <p:spPr>
          <a:xfrm>
            <a:off x="7955280" y="178308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Shape 24"/>
          <p:cNvSpPr/>
          <p:nvPr/>
        </p:nvSpPr>
        <p:spPr>
          <a:xfrm>
            <a:off x="8458200" y="1783080"/>
            <a:ext cx="64008" cy="64008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Shape 25"/>
          <p:cNvSpPr/>
          <p:nvPr/>
        </p:nvSpPr>
        <p:spPr>
          <a:xfrm>
            <a:off x="777240" y="502920"/>
            <a:ext cx="2926080" cy="41148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Text 26"/>
          <p:cNvSpPr/>
          <p:nvPr/>
        </p:nvSpPr>
        <p:spPr>
          <a:xfrm>
            <a:off x="777240" y="502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ISO/IEC 42001:2023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109728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Management</a:t>
            </a:r>
            <a:endParaRPr lang="en-US" sz="4600" dirty="0"/>
          </a:p>
          <a:p>
            <a:pPr marL="0" indent="0">
              <a:buNone/>
            </a:pPr>
            <a:r>
              <a:rPr lang="en-US" sz="4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Standard</a:t>
            </a:r>
            <a:endParaRPr lang="en-US" sz="4600" dirty="0"/>
          </a:p>
        </p:txBody>
      </p:sp>
      <p:sp>
        <p:nvSpPr>
          <p:cNvPr id="30" name="Text 28"/>
          <p:cNvSpPr/>
          <p:nvPr/>
        </p:nvSpPr>
        <p:spPr>
          <a:xfrm>
            <a:off x="777240" y="2926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Guide for Software Engineering Students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2" name="Text 30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FAE"/>
                </a:solidFill>
              </a:rPr>
              <a:t>Responsible AI • Governance • Risk Management • Continuous Improvement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16ED6B-7579-D312-CCFD-2F22F206C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2454" y="829341"/>
            <a:ext cx="9651259" cy="261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720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ISO/IEC 42001?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4747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73152" cy="347472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42001 is the world's first international standard for Artificial Intelligence Management Systems (AIMS). Published in December 2023, it provides a framework for organizations to manage AI responsibly.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E"/>
                </a:solidFill>
              </a:rPr>
              <a:t>Applies 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that develop AI systems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that deploy AI systems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that use AI in products/services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3931920" cy="713232"/>
          </a:xfrm>
          <a:prstGeom prst="rect">
            <a:avLst/>
          </a:prstGeom>
          <a:solidFill>
            <a:srgbClr val="E8F4F8"/>
          </a:solidFill>
          <a:ln w="1270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5029200" y="9692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📅  Published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2252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December 2023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755648"/>
            <a:ext cx="3931920" cy="713232"/>
          </a:xfrm>
          <a:prstGeom prst="rect">
            <a:avLst/>
          </a:prstGeom>
          <a:solidFill>
            <a:srgbClr val="E8F4F8"/>
          </a:solidFill>
          <a:ln w="1270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/>
          <p:nvPr/>
        </p:nvSpPr>
        <p:spPr>
          <a:xfrm>
            <a:off x="5029200" y="18105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🌍  Scope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665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Global, all sectors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2596896"/>
            <a:ext cx="3931920" cy="713232"/>
          </a:xfrm>
          <a:prstGeom prst="rect">
            <a:avLst/>
          </a:prstGeom>
          <a:solidFill>
            <a:srgbClr val="E8F4F8"/>
          </a:solidFill>
          <a:ln w="1270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/>
          <p:nvPr/>
        </p:nvSpPr>
        <p:spPr>
          <a:xfrm>
            <a:off x="5029200" y="2651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🏗️  Structure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907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Based on ISO High Level Structure (HLS)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3438144"/>
            <a:ext cx="3931920" cy="713232"/>
          </a:xfrm>
          <a:prstGeom prst="rect">
            <a:avLst/>
          </a:prstGeom>
          <a:solidFill>
            <a:srgbClr val="E8F4F8"/>
          </a:solidFill>
          <a:ln w="1270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Text 18"/>
          <p:cNvSpPr/>
          <p:nvPr/>
        </p:nvSpPr>
        <p:spPr>
          <a:xfrm>
            <a:off x="5029200" y="3493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🔗  Related 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ISO 9001, ISO 27001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It Matters — The AI Risk Landscape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AI systems can cause significant harm if not managed properly.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517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65176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Bias &amp; Discrimination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719072"/>
            <a:ext cx="24323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AI trained on biased data produces unfair outcomes — e.g., hiring algorithms excluding minorities.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1325880"/>
            <a:ext cx="26517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0" name="Shape 8"/>
          <p:cNvSpPr/>
          <p:nvPr/>
        </p:nvSpPr>
        <p:spPr>
          <a:xfrm>
            <a:off x="3172968" y="1325880"/>
            <a:ext cx="26517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3264408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Lack of Transparency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82696" y="1719072"/>
            <a:ext cx="24323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Black-box models make decisions users can't explain or contest — violating trust and regulations.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896" y="1325880"/>
            <a:ext cx="26517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4" name="Shape 12"/>
          <p:cNvSpPr/>
          <p:nvPr/>
        </p:nvSpPr>
        <p:spPr>
          <a:xfrm>
            <a:off x="6025896" y="1325880"/>
            <a:ext cx="265176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3"/>
          <p:cNvSpPr/>
          <p:nvPr/>
        </p:nvSpPr>
        <p:spPr>
          <a:xfrm>
            <a:off x="6117336" y="1325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Privacy Violations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35624" y="1719072"/>
            <a:ext cx="24323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AI systems may expose personal data or be used for surveillance without user consent.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26517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265176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7"/>
          <p:cNvSpPr/>
          <p:nvPr/>
        </p:nvSpPr>
        <p:spPr>
          <a:xfrm>
            <a:off x="411480" y="3017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Safety &amp; Security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410712"/>
            <a:ext cx="24323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AI in critical systems (medical, automotive) can malfunction with life-threatening consequences.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72968" y="3017520"/>
            <a:ext cx="26517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2" name="Shape 20"/>
          <p:cNvSpPr/>
          <p:nvPr/>
        </p:nvSpPr>
        <p:spPr>
          <a:xfrm>
            <a:off x="3172968" y="3017520"/>
            <a:ext cx="26517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Text 21"/>
          <p:cNvSpPr/>
          <p:nvPr/>
        </p:nvSpPr>
        <p:spPr>
          <a:xfrm>
            <a:off x="3264408" y="3017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Accountability Gaps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82696" y="3410712"/>
            <a:ext cx="24323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When AI causes harm, it's often unclear who is responsible — developer, deployer, or user?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25896" y="3017520"/>
            <a:ext cx="26517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FA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6" name="Shape 24"/>
          <p:cNvSpPr/>
          <p:nvPr/>
        </p:nvSpPr>
        <p:spPr>
          <a:xfrm>
            <a:off x="6025896" y="3017520"/>
            <a:ext cx="2651760" cy="347472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Text 25"/>
          <p:cNvSpPr/>
          <p:nvPr/>
        </p:nvSpPr>
        <p:spPr>
          <a:xfrm>
            <a:off x="6117336" y="3017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Regulatory Non-Compliance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35624" y="3410712"/>
            <a:ext cx="24323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Emerging laws (EU AI Act, etc.) impose steep fines for non-compliant AI products.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Structure: Plan–Do–Check–Act (PDCA)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ISO/IEC 42001 follows the Annex SL High Level Structure — the same framework as ISO 9001 and ISO 27001.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06908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005840" cy="1600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1005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PLAN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44752" y="141732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Establish AI policy, objectives, risk assessment, and treatment plans. Identify organizational context and stakeholder needs.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06908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1005840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4754880" y="1280160"/>
            <a:ext cx="1005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33872" y="141732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Implement and operate the AIMS. Train staff, deploy controls, execute AI lifecycle processes.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64608" y="3117838"/>
            <a:ext cx="406908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Shape 12"/>
          <p:cNvSpPr/>
          <p:nvPr/>
        </p:nvSpPr>
        <p:spPr>
          <a:xfrm>
            <a:off x="4864608" y="3117838"/>
            <a:ext cx="1005840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3"/>
          <p:cNvSpPr/>
          <p:nvPr/>
        </p:nvSpPr>
        <p:spPr>
          <a:xfrm>
            <a:off x="4864608" y="3117838"/>
            <a:ext cx="1005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CHECK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0" y="3254998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Monitor, measure, analyze and evaluate AI performance. Conduct internal audits and management reviews.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117838"/>
            <a:ext cx="406908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Shape 16"/>
          <p:cNvSpPr/>
          <p:nvPr/>
        </p:nvSpPr>
        <p:spPr>
          <a:xfrm>
            <a:off x="365760" y="3117838"/>
            <a:ext cx="1005840" cy="1600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7"/>
          <p:cNvSpPr/>
          <p:nvPr/>
        </p:nvSpPr>
        <p:spPr>
          <a:xfrm>
            <a:off x="365760" y="3117838"/>
            <a:ext cx="1005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ACT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44752" y="3254998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Take action to continually improve. Address nonconformities, apply corrective actions.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15968" y="1965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99148" y="282065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398264" y="36804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←</a:t>
            </a:r>
            <a:endParaRPr lang="en-US" sz="22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7449DDB8-E127-D9F3-E5E3-CD91726A167F}"/>
              </a:ext>
            </a:extLst>
          </p:cNvPr>
          <p:cNvSpPr/>
          <p:nvPr/>
        </p:nvSpPr>
        <p:spPr>
          <a:xfrm rot="10800000">
            <a:off x="2235708" y="2880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</a:rPr>
              <a:t>↓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Clauses of ISO/IEC 42001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17830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365760" y="941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Clause 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 of the Organization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0992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Identify internal/external issues, stakeholders, and define the AIMS scope.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50592" y="868680"/>
            <a:ext cx="2011680" cy="1783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2542032" y="941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Clause 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42032" y="1188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Leadership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42032" y="170992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Top management must show commitment, set AI policy, and assign roles.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26864" y="868680"/>
            <a:ext cx="2011680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4718304" y="941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Clause 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18304" y="1188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Planning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18304" y="170992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Address AI risks and opportunities; set measurable AI objectives.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03136" y="868680"/>
            <a:ext cx="2011680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/>
          <p:nvPr/>
        </p:nvSpPr>
        <p:spPr>
          <a:xfrm>
            <a:off x="6894576" y="941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Clause 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94576" y="1188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94576" y="170992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Provide resources, competence, awareness, communication &amp; documentation.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2880360"/>
            <a:ext cx="2011680" cy="1783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9"/>
          <p:cNvSpPr/>
          <p:nvPr/>
        </p:nvSpPr>
        <p:spPr>
          <a:xfrm>
            <a:off x="685800" y="2953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Clause 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Operation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72160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Plan, implement and control AI lifecycle processes including impact assessments.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70632" y="2880360"/>
            <a:ext cx="2011680" cy="178308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/>
          <p:cNvSpPr/>
          <p:nvPr/>
        </p:nvSpPr>
        <p:spPr>
          <a:xfrm>
            <a:off x="2862072" y="2953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Clause 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62072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Performance Evaluation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62072" y="372160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Monitor, measure, audit and conduct management reviews of the AIMS.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46904" y="2880360"/>
            <a:ext cx="2011680" cy="1783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Text 27"/>
          <p:cNvSpPr/>
          <p:nvPr/>
        </p:nvSpPr>
        <p:spPr>
          <a:xfrm>
            <a:off x="5038344" y="2953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Clause 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38344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Improvement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38344" y="372160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Handle nonconformity, take corrective actions, and improve continuously.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Risk Assessment Process (Clause 6)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554480" y="1417320"/>
            <a:ext cx="45720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1783080" y="13167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234440" cy="10058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2103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Identify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AI Risks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3552" y="1417320"/>
            <a:ext cx="45720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/>
          <p:nvPr/>
        </p:nvSpPr>
        <p:spPr>
          <a:xfrm>
            <a:off x="3502152" y="13167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39112" y="1005840"/>
            <a:ext cx="12344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 10"/>
          <p:cNvSpPr/>
          <p:nvPr/>
        </p:nvSpPr>
        <p:spPr>
          <a:xfrm>
            <a:off x="2039112" y="10058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47672" y="2103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Analyze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Likelihood &amp; Impact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92624" y="1417320"/>
            <a:ext cx="45720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3"/>
          <p:cNvSpPr/>
          <p:nvPr/>
        </p:nvSpPr>
        <p:spPr>
          <a:xfrm>
            <a:off x="5221224" y="13167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58184" y="1005840"/>
            <a:ext cx="1234440" cy="10058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/>
          <p:nvPr/>
        </p:nvSpPr>
        <p:spPr>
          <a:xfrm>
            <a:off x="3758184" y="10058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66744" y="2103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Evaluate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Risk Level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11696" y="1417320"/>
            <a:ext cx="45720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Text 18"/>
          <p:cNvSpPr/>
          <p:nvPr/>
        </p:nvSpPr>
        <p:spPr>
          <a:xfrm>
            <a:off x="6940296" y="13167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77256" y="1005840"/>
            <a:ext cx="1234440" cy="10058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20"/>
          <p:cNvSpPr/>
          <p:nvPr/>
        </p:nvSpPr>
        <p:spPr>
          <a:xfrm>
            <a:off x="5477256" y="10058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85816" y="2103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Select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Controls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96328" y="1005840"/>
            <a:ext cx="1234440" cy="1005840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/>
          <p:cNvSpPr/>
          <p:nvPr/>
        </p:nvSpPr>
        <p:spPr>
          <a:xfrm>
            <a:off x="7196328" y="10058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04888" y="21031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Implement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&amp; Monitor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2788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Risk Matrix Example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65760" y="3200400"/>
            <a:ext cx="2057400" cy="393192"/>
          </a:xfrm>
          <a:prstGeom prst="rect">
            <a:avLst/>
          </a:prstGeom>
          <a:solidFill>
            <a:srgbClr val="0F1B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Text 27"/>
          <p:cNvSpPr/>
          <p:nvPr/>
        </p:nvSpPr>
        <p:spPr>
          <a:xfrm>
            <a:off x="365760" y="320040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50592" y="3200400"/>
            <a:ext cx="2057400" cy="393192"/>
          </a:xfrm>
          <a:prstGeom prst="rect">
            <a:avLst/>
          </a:prstGeom>
          <a:solidFill>
            <a:srgbClr val="0F1B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1" name="Text 29"/>
          <p:cNvSpPr/>
          <p:nvPr/>
        </p:nvSpPr>
        <p:spPr>
          <a:xfrm>
            <a:off x="2450592" y="320040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Low Impact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35424" y="3200400"/>
            <a:ext cx="2057400" cy="393192"/>
          </a:xfrm>
          <a:prstGeom prst="rect">
            <a:avLst/>
          </a:prstGeom>
          <a:solidFill>
            <a:srgbClr val="0F1B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Text 31"/>
          <p:cNvSpPr/>
          <p:nvPr/>
        </p:nvSpPr>
        <p:spPr>
          <a:xfrm>
            <a:off x="4535424" y="320040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 Impact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20256" y="3200400"/>
            <a:ext cx="2057400" cy="393192"/>
          </a:xfrm>
          <a:prstGeom prst="rect">
            <a:avLst/>
          </a:prstGeom>
          <a:solidFill>
            <a:srgbClr val="0F1B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5" name="Text 33"/>
          <p:cNvSpPr/>
          <p:nvPr/>
        </p:nvSpPr>
        <p:spPr>
          <a:xfrm>
            <a:off x="6620256" y="320040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 Impact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611880"/>
            <a:ext cx="2057400" cy="393192"/>
          </a:xfrm>
          <a:prstGeom prst="rect">
            <a:avLst/>
          </a:prstGeom>
          <a:solidFill>
            <a:srgbClr val="0F1B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7" name="Text 35"/>
          <p:cNvSpPr/>
          <p:nvPr/>
        </p:nvSpPr>
        <p:spPr>
          <a:xfrm>
            <a:off x="365760" y="361188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 Likelihood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50592" y="3611880"/>
            <a:ext cx="2057400" cy="393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9" name="Text 37"/>
          <p:cNvSpPr/>
          <p:nvPr/>
        </p:nvSpPr>
        <p:spPr>
          <a:xfrm>
            <a:off x="2450592" y="361188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Medium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35424" y="3611880"/>
            <a:ext cx="2057400" cy="39319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1" name="Text 39"/>
          <p:cNvSpPr/>
          <p:nvPr/>
        </p:nvSpPr>
        <p:spPr>
          <a:xfrm>
            <a:off x="4535424" y="361188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High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20256" y="3611880"/>
            <a:ext cx="2057400" cy="393192"/>
          </a:xfrm>
          <a:prstGeom prst="rect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3" name="Text 41"/>
          <p:cNvSpPr/>
          <p:nvPr/>
        </p:nvSpPr>
        <p:spPr>
          <a:xfrm>
            <a:off x="6620256" y="361188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Critical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57400" cy="393192"/>
          </a:xfrm>
          <a:prstGeom prst="rect">
            <a:avLst/>
          </a:prstGeom>
          <a:solidFill>
            <a:srgbClr val="0F1B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5" name="Text 43"/>
          <p:cNvSpPr/>
          <p:nvPr/>
        </p:nvSpPr>
        <p:spPr>
          <a:xfrm>
            <a:off x="365760" y="402336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 Likelihood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450592" y="4023360"/>
            <a:ext cx="2057400" cy="39319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7" name="Text 45"/>
          <p:cNvSpPr/>
          <p:nvPr/>
        </p:nvSpPr>
        <p:spPr>
          <a:xfrm>
            <a:off x="2450592" y="402336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Low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35424" y="4023360"/>
            <a:ext cx="2057400" cy="393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9" name="Text 47"/>
          <p:cNvSpPr/>
          <p:nvPr/>
        </p:nvSpPr>
        <p:spPr>
          <a:xfrm>
            <a:off x="4535424" y="402336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Medium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20256" y="4023360"/>
            <a:ext cx="2057400" cy="393192"/>
          </a:xfrm>
          <a:prstGeom prst="rect">
            <a:avLst/>
          </a:prstGeom>
          <a:solidFill>
            <a:srgbClr val="F9731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1" name="Text 49"/>
          <p:cNvSpPr/>
          <p:nvPr/>
        </p:nvSpPr>
        <p:spPr>
          <a:xfrm>
            <a:off x="6620256" y="402336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High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4434840"/>
            <a:ext cx="2057400" cy="393192"/>
          </a:xfrm>
          <a:prstGeom prst="rect">
            <a:avLst/>
          </a:prstGeom>
          <a:solidFill>
            <a:srgbClr val="0F1B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3" name="Text 51"/>
          <p:cNvSpPr/>
          <p:nvPr/>
        </p:nvSpPr>
        <p:spPr>
          <a:xfrm>
            <a:off x="365760" y="443484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Low Likelihood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450592" y="4434840"/>
            <a:ext cx="2057400" cy="39319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5" name="Text 53"/>
          <p:cNvSpPr/>
          <p:nvPr/>
        </p:nvSpPr>
        <p:spPr>
          <a:xfrm>
            <a:off x="2450592" y="443484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Negligible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35424" y="4434840"/>
            <a:ext cx="2057400" cy="39319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7" name="Text 55"/>
          <p:cNvSpPr/>
          <p:nvPr/>
        </p:nvSpPr>
        <p:spPr>
          <a:xfrm>
            <a:off x="4535424" y="443484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Low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620256" y="4434840"/>
            <a:ext cx="2057400" cy="393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9" name="Text 57"/>
          <p:cNvSpPr/>
          <p:nvPr/>
        </p:nvSpPr>
        <p:spPr>
          <a:xfrm>
            <a:off x="6620256" y="4434840"/>
            <a:ext cx="2057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Medium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System Lifecycle (Annex A.6)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ISO/IEC 42001 requires governance controls at every stage of the AI lifecycle: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280160"/>
            <a:ext cx="1508760" cy="7772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292608" y="12801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Define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Requirements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73936" y="14630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2608" y="2240280"/>
            <a:ext cx="1508760" cy="2423160"/>
          </a:xfrm>
          <a:prstGeom prst="rect">
            <a:avLst/>
          </a:prstGeom>
          <a:solidFill>
            <a:srgbClr val="E8F4F8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365760" y="2304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</a:rPr>
              <a:t>Controls: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60604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Business objectives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320040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Ethical requirements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79476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Legal constraints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0" y="1280160"/>
            <a:ext cx="1508760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/>
          <p:nvPr/>
        </p:nvSpPr>
        <p:spPr>
          <a:xfrm>
            <a:off x="2011680" y="12801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Design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Development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93008" y="14630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011680" y="2240280"/>
            <a:ext cx="1508760" cy="2423160"/>
          </a:xfrm>
          <a:prstGeom prst="rect">
            <a:avLst/>
          </a:prstGeom>
          <a:solidFill>
            <a:srgbClr val="E8F4F8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/>
          <p:nvPr/>
        </p:nvSpPr>
        <p:spPr>
          <a:xfrm>
            <a:off x="2084832" y="2304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</a:rPr>
              <a:t>Controls: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260604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Data selection criteria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320040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Model architecture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379476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Fairness metrics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30752" y="1280160"/>
            <a:ext cx="150876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20"/>
          <p:cNvSpPr/>
          <p:nvPr/>
        </p:nvSpPr>
        <p:spPr>
          <a:xfrm>
            <a:off x="3730752" y="12801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Verification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14630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30752" y="2240280"/>
            <a:ext cx="1508760" cy="2423160"/>
          </a:xfrm>
          <a:prstGeom prst="rect">
            <a:avLst/>
          </a:prstGeom>
          <a:solidFill>
            <a:srgbClr val="E8F4F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/>
          <p:cNvSpPr/>
          <p:nvPr/>
        </p:nvSpPr>
        <p:spPr>
          <a:xfrm>
            <a:off x="3803904" y="2304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Controls: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22192" y="260604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Test for bias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22192" y="320040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Performance benchmarks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22192" y="379476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Safety testing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49824" y="1280160"/>
            <a:ext cx="150876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Text 28"/>
          <p:cNvSpPr/>
          <p:nvPr/>
        </p:nvSpPr>
        <p:spPr>
          <a:xfrm>
            <a:off x="5449824" y="12801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Deployment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31152" y="14630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49824" y="2240280"/>
            <a:ext cx="1508760" cy="2423160"/>
          </a:xfrm>
          <a:prstGeom prst="rect">
            <a:avLst/>
          </a:prstGeom>
          <a:solidFill>
            <a:srgbClr val="E8F4F8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Text 31"/>
          <p:cNvSpPr/>
          <p:nvPr/>
        </p:nvSpPr>
        <p:spPr>
          <a:xfrm>
            <a:off x="5522976" y="2304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Controls: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41264" y="260604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Human oversight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41264" y="320040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Monitoring strategy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41264" y="379476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Incident response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68896" y="1280160"/>
            <a:ext cx="150876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8" name="Text 36"/>
          <p:cNvSpPr/>
          <p:nvPr/>
        </p:nvSpPr>
        <p:spPr>
          <a:xfrm>
            <a:off x="7168896" y="128016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Decommission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&amp; Retire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168896" y="2240280"/>
            <a:ext cx="1508760" cy="2423160"/>
          </a:xfrm>
          <a:prstGeom prst="rect">
            <a:avLst/>
          </a:prstGeom>
          <a:solidFill>
            <a:srgbClr val="E8F4F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0" name="Text 38"/>
          <p:cNvSpPr/>
          <p:nvPr/>
        </p:nvSpPr>
        <p:spPr>
          <a:xfrm>
            <a:off x="7242048" y="2304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Controls: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60336" y="260604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Data deletion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0336" y="320040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Model archiving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60336" y="379476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Lessons learned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Real-World Application Examples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🏥  Healthcare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52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AI Diagnostic Tool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6002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⚠ Challenge: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AI model recommends treatments — errors can be life-threatening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4231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✓ ISO 42001 Controls: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2697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A.5: AI impact assessment mandatory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A.6: Rigorous V&amp;V testing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" y="3611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A.9: Physician must review all AI recommendations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336" y="4069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A.7: Training data quality controls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54680" y="822960"/>
            <a:ext cx="274320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6" name="Shape 14"/>
          <p:cNvSpPr/>
          <p:nvPr/>
        </p:nvSpPr>
        <p:spPr>
          <a:xfrm>
            <a:off x="3154680" y="822960"/>
            <a:ext cx="2743200" cy="68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/>
          <p:nvPr/>
        </p:nvSpPr>
        <p:spPr>
          <a:xfrm>
            <a:off x="3246120" y="822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🏦  Finance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46120" y="1152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Credit Scoring 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64408" y="16002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⚠ Challenge: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64408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Biased model may unfairly deny loans to protected groups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64408" y="24231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✓ ISO 42001 Controls: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82696" y="2697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A.5: Bias impact assessment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82696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A.6: Regular bias audits in lifecycle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82696" y="3611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A.9: Human review for edge cases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82696" y="4069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A.10: Explainability requirements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822960"/>
            <a:ext cx="274320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7" name="Shape 25"/>
          <p:cNvSpPr/>
          <p:nvPr/>
        </p:nvSpPr>
        <p:spPr>
          <a:xfrm>
            <a:off x="6035040" y="822960"/>
            <a:ext cx="274320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Text 26"/>
          <p:cNvSpPr/>
          <p:nvPr/>
        </p:nvSpPr>
        <p:spPr>
          <a:xfrm>
            <a:off x="6126480" y="822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👥  HR Tech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26480" y="1152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AI Recruitment System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44768" y="16002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⚠ Challenge: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44768" y="1828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AI may discriminate based on gender, race, or 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44768" y="242316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ISO 42001 Controls: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63056" y="2697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A.4: Diverse team building the system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63056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A.5: Discrimination risk assessment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63056" y="3611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A.7: Audit training data for bias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63056" y="4069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A.9: Humans make final hiring decisions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Implementing ISO/IEC 42001 in Practice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11680" cy="3840480"/>
          </a:xfrm>
          <a:prstGeom prst="rect">
            <a:avLst/>
          </a:prstGeom>
          <a:solidFill>
            <a:srgbClr val="E8F4F8"/>
          </a:solidFill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011680" cy="594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Gap 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" y="1691640"/>
            <a:ext cx="54864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539496" y="1627632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Review current AI practices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2350008"/>
            <a:ext cx="54864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539496" y="228600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Map to ISO 42001 clauses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" y="3008376"/>
            <a:ext cx="54864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539496" y="2944368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Identify gaps &amp; risks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" y="3666744"/>
            <a:ext cx="54864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Text 13"/>
          <p:cNvSpPr/>
          <p:nvPr/>
        </p:nvSpPr>
        <p:spPr>
          <a:xfrm>
            <a:off x="539496" y="3602736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Estimate effort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914400"/>
            <a:ext cx="2011680" cy="3840480"/>
          </a:xfrm>
          <a:prstGeom prst="rect">
            <a:avLst/>
          </a:prstGeom>
          <a:solidFill>
            <a:srgbClr val="E8F4F8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Shape 15"/>
          <p:cNvSpPr/>
          <p:nvPr/>
        </p:nvSpPr>
        <p:spPr>
          <a:xfrm>
            <a:off x="2468880" y="914400"/>
            <a:ext cx="201168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/>
          <p:nvPr/>
        </p:nvSpPr>
        <p:spPr>
          <a:xfrm>
            <a:off x="2514600" y="914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11704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Foundation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578608" y="1691640"/>
            <a:ext cx="54864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9"/>
          <p:cNvSpPr/>
          <p:nvPr/>
        </p:nvSpPr>
        <p:spPr>
          <a:xfrm>
            <a:off x="2688336" y="1627632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Define AI policy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78608" y="2350008"/>
            <a:ext cx="54864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Text 21"/>
          <p:cNvSpPr/>
          <p:nvPr/>
        </p:nvSpPr>
        <p:spPr>
          <a:xfrm>
            <a:off x="2688336" y="228600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Assign AI roles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78608" y="3008376"/>
            <a:ext cx="54864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/>
          <p:cNvSpPr/>
          <p:nvPr/>
        </p:nvSpPr>
        <p:spPr>
          <a:xfrm>
            <a:off x="2688336" y="2944368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Establish risk framework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78608" y="3666744"/>
            <a:ext cx="54864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Text 25"/>
          <p:cNvSpPr/>
          <p:nvPr/>
        </p:nvSpPr>
        <p:spPr>
          <a:xfrm>
            <a:off x="2688336" y="3602736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Build documentation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914400"/>
            <a:ext cx="2011680" cy="3840480"/>
          </a:xfrm>
          <a:prstGeom prst="rect">
            <a:avLst/>
          </a:prstGeom>
          <a:solidFill>
            <a:srgbClr val="E8F4F8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Shape 27"/>
          <p:cNvSpPr/>
          <p:nvPr/>
        </p:nvSpPr>
        <p:spPr>
          <a:xfrm>
            <a:off x="4617720" y="914400"/>
            <a:ext cx="2011680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Text 28"/>
          <p:cNvSpPr/>
          <p:nvPr/>
        </p:nvSpPr>
        <p:spPr>
          <a:xfrm>
            <a:off x="4663440" y="914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11704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Implementation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27448" y="1691640"/>
            <a:ext cx="54864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Text 31"/>
          <p:cNvSpPr/>
          <p:nvPr/>
        </p:nvSpPr>
        <p:spPr>
          <a:xfrm>
            <a:off x="4837176" y="1627632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Deploy Annex A controls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27448" y="2350008"/>
            <a:ext cx="54864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5" name="Text 33"/>
          <p:cNvSpPr/>
          <p:nvPr/>
        </p:nvSpPr>
        <p:spPr>
          <a:xfrm>
            <a:off x="4837176" y="228600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Train teams on AIMS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27448" y="3008376"/>
            <a:ext cx="54864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7" name="Text 35"/>
          <p:cNvSpPr/>
          <p:nvPr/>
        </p:nvSpPr>
        <p:spPr>
          <a:xfrm>
            <a:off x="4837176" y="2944368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Apply lifecycle governance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27448" y="3666744"/>
            <a:ext cx="54864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9" name="Text 37"/>
          <p:cNvSpPr/>
          <p:nvPr/>
        </p:nvSpPr>
        <p:spPr>
          <a:xfrm>
            <a:off x="4837176" y="3602736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Conduct impact assessments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66560" y="914400"/>
            <a:ext cx="2011680" cy="3840480"/>
          </a:xfrm>
          <a:prstGeom prst="rect">
            <a:avLst/>
          </a:prstGeom>
          <a:solidFill>
            <a:srgbClr val="E8F4F8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1" name="Shape 39"/>
          <p:cNvSpPr/>
          <p:nvPr/>
        </p:nvSpPr>
        <p:spPr>
          <a:xfrm>
            <a:off x="6766560" y="914400"/>
            <a:ext cx="20116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2" name="Text 40"/>
          <p:cNvSpPr/>
          <p:nvPr/>
        </p:nvSpPr>
        <p:spPr>
          <a:xfrm>
            <a:off x="6812280" y="914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12280" y="11704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Certification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876288" y="1691640"/>
            <a:ext cx="5486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5" name="Text 43"/>
          <p:cNvSpPr/>
          <p:nvPr/>
        </p:nvSpPr>
        <p:spPr>
          <a:xfrm>
            <a:off x="6986016" y="1627632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Internal audit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76288" y="2350008"/>
            <a:ext cx="5486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7" name="Text 45"/>
          <p:cNvSpPr/>
          <p:nvPr/>
        </p:nvSpPr>
        <p:spPr>
          <a:xfrm>
            <a:off x="6986016" y="2286000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Management review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76288" y="3008376"/>
            <a:ext cx="5486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9" name="Text 47"/>
          <p:cNvSpPr/>
          <p:nvPr/>
        </p:nvSpPr>
        <p:spPr>
          <a:xfrm>
            <a:off x="6986016" y="2944368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Select certification body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76288" y="3666744"/>
            <a:ext cx="5486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1" name="Text 49"/>
          <p:cNvSpPr/>
          <p:nvPr/>
        </p:nvSpPr>
        <p:spPr>
          <a:xfrm>
            <a:off x="6986016" y="3602736"/>
            <a:ext cx="1719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External audit &amp; certify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384048" cy="38404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058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ISO/IEC 42001 is the first global standard for AI governance — foundational knowledge for any AI engineer.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84048" cy="38404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" name="Text 6"/>
          <p:cNvSpPr/>
          <p:nvPr/>
        </p:nvSpPr>
        <p:spPr>
          <a:xfrm>
            <a:off x="475488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57800" y="10058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It follows the PDCA cycle and is compatible with ISO 9001 and ISO 27001, enabling integrated management.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384048" cy="38404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73152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94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Risk assessment is central — you must identify, analyze, and treat AI-specific risks systematically.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384048" cy="38404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/>
          <p:nvPr/>
        </p:nvSpPr>
        <p:spPr>
          <a:xfrm>
            <a:off x="475488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2194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Annex A provides 38 practical controls covering the full AI lifecycle from data to decommission.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384048" cy="38404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/>
          <p:nvPr/>
        </p:nvSpPr>
        <p:spPr>
          <a:xfrm>
            <a:off x="73152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383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It complements the EU AI Act — certification demonstrates due diligence to regulators and customers.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384048" cy="384048"/>
          </a:xfrm>
          <a:prstGeom prst="ellipse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Text 18"/>
          <p:cNvSpPr/>
          <p:nvPr/>
        </p:nvSpPr>
        <p:spPr>
          <a:xfrm>
            <a:off x="475488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57800" y="3383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Human oversight is non-negotiable — the standard requires meaningful human control over AI decisions.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BFAE"/>
          </a:solidFill>
          <a:ln w="12700">
            <a:solidFill>
              <a:srgbClr val="00BFAE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F1B2D"/>
                </a:solidFill>
              </a:rPr>
              <a:t>"Responsible AI starts with structured governance. Master ISO/IEC 42001 — build AI the world can trust."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495FB7-4E5A-6AA2-C706-308FC9483961}"/>
              </a:ext>
            </a:extLst>
          </p:cNvPr>
          <p:cNvSpPr txBox="1"/>
          <p:nvPr/>
        </p:nvSpPr>
        <p:spPr>
          <a:xfrm>
            <a:off x="244549" y="244549"/>
            <a:ext cx="835719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Ambiguity in AI Scope and Definition</a:t>
            </a:r>
          </a:p>
          <a:p>
            <a:r>
              <a:rPr lang="en-US" dirty="0"/>
              <a:t>Many organizations struggle to determine </a:t>
            </a:r>
            <a:r>
              <a:rPr lang="en-US" b="1" dirty="0"/>
              <a:t>what exactly counts as an AI system</a:t>
            </a:r>
            <a:r>
              <a:rPr lang="en-US" dirty="0"/>
              <a:t> under ISO/IEC 42001.</a:t>
            </a:r>
          </a:p>
          <a:p>
            <a:r>
              <a:rPr lang="en-US" dirty="0"/>
              <a:t>AI may include ML models, rule-based systems, or decision automation.</a:t>
            </a:r>
          </a:p>
          <a:p>
            <a:r>
              <a:rPr lang="en-US" dirty="0"/>
              <a:t>Companies often have </a:t>
            </a:r>
            <a:r>
              <a:rPr lang="en-US" b="1" dirty="0"/>
              <a:t>embedded AI components inside larger software systems</a:t>
            </a:r>
            <a:r>
              <a:rPr lang="en-US" dirty="0"/>
              <a:t>, making scope definition difficult.</a:t>
            </a:r>
          </a:p>
          <a:p>
            <a:r>
              <a:rPr lang="en-US" dirty="0"/>
              <a:t>Determining </a:t>
            </a:r>
            <a:r>
              <a:rPr lang="en-US" b="1" dirty="0"/>
              <a:t>which systems must fall under the AIMS</a:t>
            </a:r>
            <a:r>
              <a:rPr lang="en-US" dirty="0"/>
              <a:t> becomes complex.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Integration with Existing Management Systems</a:t>
            </a:r>
          </a:p>
          <a:p>
            <a:r>
              <a:rPr lang="en-US" dirty="0"/>
              <a:t>Organizations usually already operate systems such as:</a:t>
            </a:r>
          </a:p>
          <a:p>
            <a:r>
              <a:rPr lang="en-US" dirty="0"/>
              <a:t>ISO 9001 (Quality Management)</a:t>
            </a:r>
          </a:p>
          <a:p>
            <a:r>
              <a:rPr lang="en-US" dirty="0"/>
              <a:t>ISO/IEC 27001 (Information Security)</a:t>
            </a:r>
          </a:p>
          <a:p>
            <a:r>
              <a:rPr lang="en-US" dirty="0"/>
              <a:t>ISO/IEC 27701 (Privacy)</a:t>
            </a:r>
          </a:p>
          <a:p>
            <a:r>
              <a:rPr lang="en-US" dirty="0"/>
              <a:t>Integrating AI governance with these frameworks may require:</a:t>
            </a:r>
          </a:p>
          <a:p>
            <a:r>
              <a:rPr lang="en-US" dirty="0"/>
              <a:t>restructuring existing processes</a:t>
            </a:r>
          </a:p>
          <a:p>
            <a:r>
              <a:rPr lang="en-US" dirty="0"/>
              <a:t>aligning risk management procedures</a:t>
            </a:r>
          </a:p>
          <a:p>
            <a:r>
              <a:rPr lang="en-US" dirty="0"/>
              <a:t>avoiding duplicate controls</a:t>
            </a:r>
          </a:p>
          <a:p>
            <a:br>
              <a:rPr lang="en-US" dirty="0"/>
            </a:b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172409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414970-6112-5EBA-A957-04F4D354E945}"/>
              </a:ext>
            </a:extLst>
          </p:cNvPr>
          <p:cNvSpPr txBox="1"/>
          <p:nvPr/>
        </p:nvSpPr>
        <p:spPr>
          <a:xfrm>
            <a:off x="318977" y="228898"/>
            <a:ext cx="85485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b="1" dirty="0"/>
              <a:t>3. AI Risk Management Complexity</a:t>
            </a:r>
          </a:p>
          <a:p>
            <a:r>
              <a:rPr lang="en-US" dirty="0"/>
              <a:t>AI risks are </a:t>
            </a:r>
            <a:r>
              <a:rPr lang="en-US" b="1" dirty="0"/>
              <a:t>different from traditional software risks</a:t>
            </a:r>
            <a:r>
              <a:rPr lang="en-US" dirty="0"/>
              <a:t>.</a:t>
            </a:r>
          </a:p>
          <a:p>
            <a:r>
              <a:rPr lang="en-US" dirty="0"/>
              <a:t>Challenges include:</a:t>
            </a:r>
          </a:p>
          <a:p>
            <a:r>
              <a:rPr lang="en-US" dirty="0"/>
              <a:t>bias and fairness issues</a:t>
            </a:r>
          </a:p>
          <a:p>
            <a:r>
              <a:rPr lang="en-US" dirty="0"/>
              <a:t>model drift and performance degradation</a:t>
            </a:r>
          </a:p>
          <a:p>
            <a:r>
              <a:rPr lang="en-US" dirty="0"/>
              <a:t>explainability and transparency requirements</a:t>
            </a:r>
          </a:p>
          <a:p>
            <a:r>
              <a:rPr lang="en-US" dirty="0"/>
              <a:t>unintended emergent behavior</a:t>
            </a:r>
          </a:p>
          <a:p>
            <a:r>
              <a:rPr lang="en-US" dirty="0"/>
              <a:t>Organizations often lack </a:t>
            </a:r>
            <a:r>
              <a:rPr lang="en-US" b="1" dirty="0"/>
              <a:t>established risk assessment methods for AI systems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962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08678F-367F-28ED-824F-C8EC603C6C91}"/>
              </a:ext>
            </a:extLst>
          </p:cNvPr>
          <p:cNvSpPr txBox="1"/>
          <p:nvPr/>
        </p:nvSpPr>
        <p:spPr>
          <a:xfrm>
            <a:off x="95692" y="-203724"/>
            <a:ext cx="913336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b="1" dirty="0"/>
              <a:t>4. Data Governance Difficulties</a:t>
            </a:r>
          </a:p>
          <a:p>
            <a:r>
              <a:rPr lang="en-US" dirty="0"/>
              <a:t>AI systems depend heavily on data.</a:t>
            </a:r>
          </a:p>
          <a:p>
            <a:r>
              <a:rPr lang="en-US" dirty="0"/>
              <a:t>Common issues:</a:t>
            </a:r>
          </a:p>
          <a:p>
            <a:r>
              <a:rPr lang="en-US" dirty="0"/>
              <a:t>incomplete or biased datasets</a:t>
            </a:r>
          </a:p>
          <a:p>
            <a:r>
              <a:rPr lang="en-US" dirty="0"/>
              <a:t>lack of dataset documentation</a:t>
            </a:r>
          </a:p>
          <a:p>
            <a:r>
              <a:rPr lang="en-US" dirty="0"/>
              <a:t>unclear data ownership</a:t>
            </a:r>
          </a:p>
          <a:p>
            <a:r>
              <a:rPr lang="en-US" dirty="0"/>
              <a:t>difficulty ensuring </a:t>
            </a:r>
            <a:r>
              <a:rPr lang="en-US" b="1" dirty="0"/>
              <a:t>data lineage and traceability</a:t>
            </a:r>
            <a:endParaRPr lang="en-US" dirty="0"/>
          </a:p>
          <a:p>
            <a:r>
              <a:rPr lang="en-US" dirty="0"/>
              <a:t>These are critical for meeting the standard’s accountability requirements.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5. Lack of AI Governance Expertise</a:t>
            </a:r>
          </a:p>
          <a:p>
            <a:r>
              <a:rPr lang="en-US" dirty="0"/>
              <a:t>ISO/IEC 42001 requires knowledge across multiple domains:</a:t>
            </a:r>
          </a:p>
          <a:p>
            <a:r>
              <a:rPr lang="en-US" dirty="0"/>
              <a:t>AI/ML engineering</a:t>
            </a:r>
          </a:p>
          <a:p>
            <a:r>
              <a:rPr lang="en-US" dirty="0"/>
              <a:t>ethics and fairness</a:t>
            </a:r>
          </a:p>
          <a:p>
            <a:r>
              <a:rPr lang="en-US" dirty="0"/>
              <a:t>data governance</a:t>
            </a:r>
          </a:p>
          <a:p>
            <a:r>
              <a:rPr lang="en-US" dirty="0"/>
              <a:t>risk management</a:t>
            </a:r>
          </a:p>
          <a:p>
            <a:r>
              <a:rPr lang="en-US" dirty="0"/>
              <a:t>compliance and auditing</a:t>
            </a:r>
          </a:p>
          <a:p>
            <a:r>
              <a:rPr lang="en-US" dirty="0"/>
              <a:t>Most organizations do </a:t>
            </a:r>
            <a:r>
              <a:rPr lang="en-US" b="1" dirty="0"/>
              <a:t>not yet have interdisciplinary AI governance teams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119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6CB5D0-8095-9D55-5942-901CA20B9F48}"/>
              </a:ext>
            </a:extLst>
          </p:cNvPr>
          <p:cNvSpPr txBox="1"/>
          <p:nvPr/>
        </p:nvSpPr>
        <p:spPr>
          <a:xfrm>
            <a:off x="47846" y="-335317"/>
            <a:ext cx="904830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b="1" dirty="0"/>
              <a:t>6. Monitoring and Lifecycle Management</a:t>
            </a:r>
          </a:p>
          <a:p>
            <a:r>
              <a:rPr lang="en-US" dirty="0"/>
              <a:t>AI systems require continuous oversight.</a:t>
            </a:r>
          </a:p>
          <a:p>
            <a:r>
              <a:rPr lang="en-US" dirty="0"/>
              <a:t>Challenges include:</a:t>
            </a:r>
          </a:p>
          <a:p>
            <a:r>
              <a:rPr lang="en-US" dirty="0"/>
              <a:t>monitoring model performance after deployment</a:t>
            </a:r>
          </a:p>
          <a:p>
            <a:r>
              <a:rPr lang="en-US" dirty="0"/>
              <a:t>detecting concept drift</a:t>
            </a:r>
          </a:p>
          <a:p>
            <a:r>
              <a:rPr lang="en-US" dirty="0"/>
              <a:t>retraining models responsibly</a:t>
            </a:r>
          </a:p>
          <a:p>
            <a:r>
              <a:rPr lang="en-US" dirty="0"/>
              <a:t>maintaining documentation over time</a:t>
            </a:r>
          </a:p>
          <a:p>
            <a:r>
              <a:rPr lang="en-US" dirty="0"/>
              <a:t>Traditional software lifecycle practices often </a:t>
            </a:r>
            <a:r>
              <a:rPr lang="en-US" b="1" dirty="0"/>
              <a:t>do not cover these needs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7. Documentation and Audit Burden</a:t>
            </a:r>
          </a:p>
          <a:p>
            <a:r>
              <a:rPr lang="en-US" dirty="0"/>
              <a:t>ISO/IEC 42001 requires extensive documentation:</a:t>
            </a:r>
          </a:p>
          <a:p>
            <a:r>
              <a:rPr lang="en-US" dirty="0"/>
              <a:t>AI system inventory</a:t>
            </a:r>
          </a:p>
          <a:p>
            <a:r>
              <a:rPr lang="en-US" dirty="0"/>
              <a:t>risk assessments</a:t>
            </a:r>
          </a:p>
          <a:p>
            <a:r>
              <a:rPr lang="en-US" dirty="0"/>
              <a:t>model documentation</a:t>
            </a:r>
          </a:p>
          <a:p>
            <a:r>
              <a:rPr lang="en-US" dirty="0"/>
              <a:t>governance processes</a:t>
            </a:r>
          </a:p>
          <a:p>
            <a:r>
              <a:rPr lang="en-US" dirty="0"/>
              <a:t>incident records</a:t>
            </a:r>
          </a:p>
          <a:p>
            <a:r>
              <a:rPr lang="en-US" dirty="0"/>
              <a:t>For organizations with many AI models, maintaining this documentation can become </a:t>
            </a:r>
            <a:r>
              <a:rPr lang="en-US" b="1" dirty="0"/>
              <a:t>operationally heavy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883597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639ADF-3C22-3118-3FD4-39EB95CD0543}"/>
              </a:ext>
            </a:extLst>
          </p:cNvPr>
          <p:cNvSpPr txBox="1"/>
          <p:nvPr/>
        </p:nvSpPr>
        <p:spPr>
          <a:xfrm>
            <a:off x="233917" y="0"/>
            <a:ext cx="703875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b="1" dirty="0"/>
              <a:t>8. Regulatory Alignment</a:t>
            </a:r>
          </a:p>
          <a:p>
            <a:r>
              <a:rPr lang="en-US" dirty="0"/>
              <a:t>ISO/IEC 42001 is often used alongside emerging AI regulations such as:</a:t>
            </a:r>
          </a:p>
          <a:p>
            <a:r>
              <a:rPr lang="en-US" dirty="0"/>
              <a:t>EU AI Act</a:t>
            </a:r>
          </a:p>
          <a:p>
            <a:r>
              <a:rPr lang="en-US" dirty="0"/>
              <a:t>Organizations must ensure:</a:t>
            </a:r>
          </a:p>
          <a:p>
            <a:r>
              <a:rPr lang="en-US" dirty="0"/>
              <a:t>the standard implementation aligns with legal requirements</a:t>
            </a:r>
          </a:p>
          <a:p>
            <a:r>
              <a:rPr lang="en-US" dirty="0"/>
              <a:t>documentation supports regulatory compliance</a:t>
            </a:r>
          </a:p>
          <a:p>
            <a:r>
              <a:rPr lang="en-US" dirty="0"/>
              <a:t>This creates additional complexity.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9. Cultural and Organizational Resistance</a:t>
            </a:r>
          </a:p>
          <a:p>
            <a:r>
              <a:rPr lang="en-US" dirty="0"/>
              <a:t>Responsible AI governance may introduce:</a:t>
            </a:r>
          </a:p>
          <a:p>
            <a:r>
              <a:rPr lang="en-US" dirty="0"/>
              <a:t>stricter approval processes</a:t>
            </a:r>
          </a:p>
          <a:p>
            <a:r>
              <a:rPr lang="en-US" dirty="0"/>
              <a:t>ethical reviews</a:t>
            </a:r>
          </a:p>
          <a:p>
            <a:r>
              <a:rPr lang="en-US" dirty="0"/>
              <a:t>additional testing and documentation</a:t>
            </a:r>
          </a:p>
          <a:p>
            <a:r>
              <a:rPr lang="en-US" dirty="0"/>
              <a:t>Development teams may see this as </a:t>
            </a:r>
            <a:r>
              <a:rPr lang="en-US" b="1" dirty="0"/>
              <a:t>slowing innovation</a:t>
            </a:r>
            <a:r>
              <a:rPr lang="en-US" dirty="0"/>
              <a:t>, which can create internal resistance.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79352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1445</Words>
  <Application>Microsoft Macintosh PowerPoint</Application>
  <PresentationFormat>On-screen Show (16:9)</PresentationFormat>
  <Paragraphs>298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ISO/IEC 42001 - AI Management System Standard</dc:title>
  <dc:subject>PptxGenJS Presentation</dc:subject>
  <dc:creator>PptxGenJS</dc:creator>
  <cp:lastModifiedBy>sevgi koyuncu</cp:lastModifiedBy>
  <cp:revision>2</cp:revision>
  <dcterms:created xsi:type="dcterms:W3CDTF">2026-03-11T09:50:55Z</dcterms:created>
  <dcterms:modified xsi:type="dcterms:W3CDTF">2026-03-25T13:35:52Z</dcterms:modified>
</cp:coreProperties>
</file>